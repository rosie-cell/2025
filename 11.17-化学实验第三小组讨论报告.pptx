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94660"/>
  </p:normalViewPr>
  <p:slideViewPr>
    <p:cSldViewPr snapToGrid="0">
      <p:cViewPr varScale="1">
        <p:scale>
          <a:sx n="77" d="100"/>
          <a:sy n="77" d="100"/>
        </p:scale>
        <p:origin x="72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69B33B-8D47-726F-9CD2-72C06C9F85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结晶条件对产品质量的影响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1734A0B-23EC-C814-CB03-84B91170D3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11.17</a:t>
            </a: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第三小组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-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顾桂榕</a:t>
            </a:r>
          </a:p>
        </p:txBody>
      </p:sp>
    </p:spTree>
    <p:extLst>
      <p:ext uri="{BB962C8B-B14F-4D97-AF65-F5344CB8AC3E}">
        <p14:creationId xmlns:p14="http://schemas.microsoft.com/office/powerpoint/2010/main" val="1628976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>
            <a:extLst>
              <a:ext uri="{FF2B5EF4-FFF2-40B4-BE49-F238E27FC236}">
                <a16:creationId xmlns:a16="http://schemas.microsoft.com/office/drawing/2014/main" id="{EB52BF0C-A2B8-F731-07A6-A050A87E0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595" y="916404"/>
            <a:ext cx="11949405" cy="6941975"/>
          </a:xfrm>
        </p:spPr>
        <p:txBody>
          <a:bodyPr>
            <a:normAutofit/>
          </a:bodyPr>
          <a:lstStyle/>
          <a:p>
            <a:r>
              <a:rPr lang="en-US" altLang="zh-CN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1. </a:t>
            </a:r>
            <a:r>
              <a:rPr lang="zh-CN" altLang="en-US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称量与配制溶液：</a:t>
            </a:r>
          </a:p>
          <a:p>
            <a:r>
              <a:rPr lang="zh-CN" altLang="en-US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en-US" altLang="zh-CN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· </a:t>
            </a:r>
            <a:r>
              <a:rPr lang="zh-CN" altLang="en-US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根据使用的铁粉重量，按照</a:t>
            </a:r>
            <a:r>
              <a:rPr lang="en-US" altLang="zh-CN" sz="1800" b="1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FeSO</a:t>
            </a:r>
            <a:r>
              <a:rPr lang="en-US" altLang="zh-CN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₄</a:t>
            </a:r>
            <a:r>
              <a:rPr lang="zh-CN" altLang="en-US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与</a:t>
            </a:r>
            <a:r>
              <a:rPr lang="en-US" altLang="zh-CN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(NH₄)₂SO₄</a:t>
            </a:r>
            <a:r>
              <a:rPr lang="zh-CN" altLang="en-US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的摩尔比为</a:t>
            </a:r>
            <a:r>
              <a:rPr lang="en-US" altLang="zh-CN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1:1</a:t>
            </a:r>
            <a:r>
              <a:rPr lang="zh-CN" altLang="en-US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计算所需硫酸铵的质量。</a:t>
            </a:r>
            <a:endParaRPr lang="en-US" altLang="zh-CN" sz="1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en-US" altLang="zh-CN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· </a:t>
            </a:r>
            <a:r>
              <a:rPr lang="zh-CN" altLang="en-US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称取计算量的固体</a:t>
            </a:r>
            <a:r>
              <a:rPr lang="en-US" altLang="zh-CN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(NH₄)₂SO₄</a:t>
            </a:r>
            <a:r>
              <a:rPr lang="zh-CN" altLang="en-US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，并将其配制成近饱和溶液（通常通过加热搅拌溶解在去离子水中）。</a:t>
            </a:r>
          </a:p>
          <a:p>
            <a:r>
              <a:rPr lang="en-US" altLang="zh-CN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2. </a:t>
            </a:r>
            <a:r>
              <a:rPr lang="zh-CN" altLang="en-US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蒸发浓缩：</a:t>
            </a:r>
          </a:p>
          <a:p>
            <a:r>
              <a:rPr lang="zh-CN" altLang="en-US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en-US" altLang="zh-CN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· </a:t>
            </a:r>
            <a:r>
              <a:rPr lang="zh-CN" altLang="en-US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将</a:t>
            </a:r>
            <a:r>
              <a:rPr lang="en-US" altLang="zh-CN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(NH₄)₂SO₄</a:t>
            </a:r>
            <a:r>
              <a:rPr lang="zh-CN" altLang="en-US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溶液倒入蒸发皿中，采用蒸汽浴加热（如水浴锅）进行蒸发。蒸汽浴能提供均匀加热，防止局部过热。</a:t>
            </a:r>
          </a:p>
          <a:p>
            <a:r>
              <a:rPr lang="zh-CN" altLang="en-US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en-US" altLang="zh-CN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· </a:t>
            </a:r>
            <a:r>
              <a:rPr lang="zh-CN" altLang="en-US" sz="1800" b="1" dirty="0">
                <a:highlight>
                  <a:srgbClr val="00FF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在蒸发过程中，如果蒸发皿内壁出现晶体，应用玻璃棒将其刮下并投入溶液中，以确保均匀浓缩和防止晶体损失。</a:t>
            </a:r>
          </a:p>
          <a:p>
            <a:r>
              <a:rPr lang="en-US" altLang="zh-CN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3. </a:t>
            </a:r>
            <a:r>
              <a:rPr lang="zh-CN" altLang="en-US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结晶诱导：</a:t>
            </a:r>
          </a:p>
          <a:p>
            <a:r>
              <a:rPr lang="zh-CN" altLang="en-US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en-US" altLang="zh-CN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· </a:t>
            </a:r>
            <a:r>
              <a:rPr lang="zh-CN" altLang="en-US" sz="1800" b="1" dirty="0">
                <a:highlight>
                  <a:srgbClr val="00FF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蒸发浓缩至溶液表面出现少量晶体（表明溶液已过饱和）时，加入约</a:t>
            </a:r>
            <a:r>
              <a:rPr lang="en-US" altLang="zh-CN" sz="1800" b="1" dirty="0">
                <a:highlight>
                  <a:srgbClr val="00FF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10 mL</a:t>
            </a:r>
            <a:r>
              <a:rPr lang="zh-CN" altLang="en-US" sz="1800" b="1" dirty="0">
                <a:highlight>
                  <a:srgbClr val="00FF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去离子水，搅拌使晶体溶解。这一步有助于调整浓度，促进后续形成均匀的晶体。</a:t>
            </a:r>
          </a:p>
          <a:p>
            <a:r>
              <a:rPr lang="zh-CN" altLang="en-US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en-US" altLang="zh-CN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· </a:t>
            </a:r>
            <a:r>
              <a:rPr lang="zh-CN" altLang="en-US" sz="1800" b="1" dirty="0">
                <a:highlight>
                  <a:srgbClr val="00FF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然后盖上表面皿，停止加热，</a:t>
            </a:r>
            <a:r>
              <a:rPr lang="zh-CN" altLang="en-US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将蒸发皿移至一个盛有热水的</a:t>
            </a:r>
            <a:r>
              <a:rPr lang="en-US" altLang="zh-CN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250 mL</a:t>
            </a:r>
            <a:r>
              <a:rPr lang="zh-CN" altLang="en-US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烧杯上（如图</a:t>
            </a:r>
            <a:r>
              <a:rPr lang="en-US" altLang="zh-CN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8-4</a:t>
            </a:r>
            <a:r>
              <a:rPr lang="zh-CN" altLang="en-US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所示，利用热水保持缓慢降温）。</a:t>
            </a:r>
            <a:r>
              <a:rPr lang="zh-CN" altLang="en-US" sz="1800" b="1" dirty="0">
                <a:highlight>
                  <a:srgbClr val="00FF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将整套装置放入实验柜中，让溶液缓慢冷却</a:t>
            </a:r>
            <a:r>
              <a:rPr lang="zh-CN" altLang="en-US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。缓慢冷却是获得大而纯晶体的关键。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4F100F1-493D-C1E9-41A4-6361AEE3ACDD}"/>
              </a:ext>
            </a:extLst>
          </p:cNvPr>
          <p:cNvSpPr/>
          <p:nvPr/>
        </p:nvSpPr>
        <p:spPr>
          <a:xfrm>
            <a:off x="0" y="0"/>
            <a:ext cx="12192000" cy="740229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600" b="1" dirty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一</a:t>
            </a:r>
            <a:r>
              <a:rPr lang="en-US" altLang="zh-CN" sz="3600" b="1" dirty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zh-CN" altLang="en-US" sz="3600" b="1" dirty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书本实验步骤</a:t>
            </a:r>
          </a:p>
        </p:txBody>
      </p:sp>
    </p:spTree>
    <p:extLst>
      <p:ext uri="{BB962C8B-B14F-4D97-AF65-F5344CB8AC3E}">
        <p14:creationId xmlns:p14="http://schemas.microsoft.com/office/powerpoint/2010/main" val="392344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1D1BD-E71F-66E2-12D6-46858C3AD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>
            <a:extLst>
              <a:ext uri="{FF2B5EF4-FFF2-40B4-BE49-F238E27FC236}">
                <a16:creationId xmlns:a16="http://schemas.microsoft.com/office/drawing/2014/main" id="{A3F7F7B8-E0DE-079F-807B-F2AFE4DA7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595" y="916404"/>
            <a:ext cx="11949405" cy="6941975"/>
          </a:xfrm>
        </p:spPr>
        <p:txBody>
          <a:bodyPr>
            <a:normAutofit/>
          </a:bodyPr>
          <a:lstStyle/>
          <a:p>
            <a:r>
              <a:rPr lang="en-US" altLang="zh-CN" sz="1800" b="1" dirty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1. </a:t>
            </a:r>
            <a:r>
              <a:rPr lang="zh-CN" altLang="en-US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在蒸发过程中，如果蒸发皿内壁出现晶体，应用玻璃棒将其刮下并投入溶液中。</a:t>
            </a:r>
            <a:endParaRPr lang="en-US" altLang="zh-CN" sz="1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1800" b="1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如果直接让饱和溶液冷却，结晶会进行的很慢，或者晶体很小</a:t>
            </a:r>
            <a:endParaRPr lang="en-US" altLang="zh-CN" sz="1800" b="1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1800" b="1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目的：</a:t>
            </a:r>
            <a:r>
              <a:rPr lang="zh-CN" altLang="en-US" sz="1800" b="1" dirty="0">
                <a:solidFill>
                  <a:schemeClr val="bg2">
                    <a:lumMod val="40000"/>
                    <a:lumOff val="60000"/>
                  </a:schemeClr>
                </a:solidFill>
                <a:highlight>
                  <a:srgbClr val="8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继续蒸发浓缩</a:t>
            </a:r>
            <a:r>
              <a:rPr lang="zh-CN" altLang="en-US" sz="1800" b="1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zh-CN" altLang="en-US" sz="1800" b="1" dirty="0">
                <a:solidFill>
                  <a:schemeClr val="bg2">
                    <a:lumMod val="40000"/>
                    <a:lumOff val="60000"/>
                  </a:schemeClr>
                </a:solidFill>
                <a:highlight>
                  <a:srgbClr val="8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创造一个高度过饱和的状态并利用该状态</a:t>
            </a:r>
            <a:r>
              <a:rPr lang="zh-CN" altLang="en-US" sz="1800" b="1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，并提供一个结晶的“触发信号</a:t>
            </a:r>
            <a:r>
              <a:rPr lang="en-US" altLang="zh-CN" sz="1800" b="1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”</a:t>
            </a:r>
          </a:p>
          <a:p>
            <a:r>
              <a:rPr lang="en-US" altLang="zh-CN" sz="1800" b="1" dirty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2. </a:t>
            </a:r>
            <a:r>
              <a:rPr lang="zh-CN" altLang="en-US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蒸发浓缩至溶液表面出现少量晶体（表明溶液已过饱和）时，加入约</a:t>
            </a:r>
            <a:r>
              <a:rPr lang="en-US" altLang="zh-CN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10 mL</a:t>
            </a:r>
            <a:r>
              <a:rPr lang="zh-CN" altLang="en-US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去离子水，搅拌使晶体溶解。</a:t>
            </a:r>
            <a:endParaRPr lang="en-US" altLang="zh-CN" sz="1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1800" b="1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这一步有助于调整浓度，促进后续形成均匀的晶体。</a:t>
            </a:r>
            <a:endParaRPr lang="en-US" altLang="zh-CN" sz="1800" b="1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1800" b="1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少量晶体起到了内部晶核的作用</a:t>
            </a:r>
            <a:endParaRPr lang="en-US" altLang="zh-CN" sz="1800" b="1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1800" b="1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加入约</a:t>
            </a:r>
            <a:r>
              <a:rPr lang="en-US" altLang="zh-CN" sz="1800" b="1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10mL</a:t>
            </a:r>
            <a:r>
              <a:rPr lang="zh-CN" altLang="en-US" sz="1800" b="1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的去离子水：稍微降低溶液的过饱和度，但不是让它回到不饱和的状态，仅是从高度不稳定的过饱和状态变成了</a:t>
            </a:r>
            <a:r>
              <a:rPr lang="zh-CN" altLang="en-US" sz="1800" b="1" dirty="0">
                <a:solidFill>
                  <a:schemeClr val="bg2">
                    <a:lumMod val="40000"/>
                    <a:lumOff val="60000"/>
                  </a:schemeClr>
                </a:solidFill>
                <a:highlight>
                  <a:srgbClr val="8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较为稳定</a:t>
            </a:r>
            <a:r>
              <a:rPr lang="zh-CN" altLang="en-US" sz="1800" b="1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的过饱和状态，从而溶解在蒸发皿壁和表面提前析出的、可能不规则的小晶体，</a:t>
            </a:r>
            <a:r>
              <a:rPr lang="zh-CN" altLang="en-US" sz="1800" b="1" dirty="0">
                <a:solidFill>
                  <a:schemeClr val="bg2">
                    <a:lumMod val="40000"/>
                    <a:lumOff val="60000"/>
                  </a:schemeClr>
                </a:solidFill>
                <a:highlight>
                  <a:srgbClr val="8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消除不受控制的的“杂散晶核”</a:t>
            </a:r>
            <a:r>
              <a:rPr lang="zh-CN" altLang="en-US" sz="1800" b="1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，便于后续形成均匀的大晶体。</a:t>
            </a:r>
            <a:endParaRPr lang="en-US" altLang="zh-CN" sz="1800" b="1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1800" b="1" dirty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 </a:t>
            </a:r>
            <a:r>
              <a:rPr lang="zh-CN" altLang="en-US" sz="1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然后盖上表面皿，停止加热，将整套装置放入实验柜中，让溶液缓慢冷却。</a:t>
            </a:r>
            <a:endParaRPr lang="en-US" altLang="zh-CN" sz="1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1800" b="1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在这样一个“</a:t>
            </a:r>
            <a:r>
              <a:rPr lang="zh-CN" altLang="en-US" sz="1800" b="1" dirty="0">
                <a:solidFill>
                  <a:schemeClr val="bg2">
                    <a:lumMod val="40000"/>
                    <a:lumOff val="60000"/>
                  </a:schemeClr>
                </a:solidFill>
                <a:highlight>
                  <a:srgbClr val="8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受控的、适度的过饱和</a:t>
            </a:r>
            <a:r>
              <a:rPr lang="zh-CN" altLang="en-US" sz="1800" b="1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”状态下，让溶液缓慢冷却。随着温度下降，硫酸亚铁铵的溶解度也会降低，这会</a:t>
            </a:r>
            <a:r>
              <a:rPr lang="zh-CN" altLang="en-US" sz="1800" b="1" dirty="0">
                <a:solidFill>
                  <a:schemeClr val="bg2">
                    <a:lumMod val="40000"/>
                    <a:lumOff val="60000"/>
                  </a:schemeClr>
                </a:solidFill>
                <a:highlight>
                  <a:srgbClr val="8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缓慢而持续地维持溶液的过饱和度</a:t>
            </a:r>
            <a:r>
              <a:rPr lang="zh-CN" altLang="en-US" sz="1800" b="1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  <a:p>
            <a:r>
              <a:rPr lang="zh-CN" altLang="en-US" sz="1800" b="1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在这种环境下，溶质分子有充足的时间和驱动力，能够有序地排列到少数晶核上（比如溶液中残留的微小尘埃或最初形成的几个晶核），从而长成颗粒较大、形状规整、纯度较高的晶体。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4CD20EC-9F9F-1B4E-2D22-E6DEC5481FD0}"/>
              </a:ext>
            </a:extLst>
          </p:cNvPr>
          <p:cNvSpPr/>
          <p:nvPr/>
        </p:nvSpPr>
        <p:spPr>
          <a:xfrm>
            <a:off x="0" y="0"/>
            <a:ext cx="12192000" cy="740229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600" b="1" dirty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二</a:t>
            </a:r>
            <a:r>
              <a:rPr lang="en-US" altLang="zh-CN" sz="3600" b="1" dirty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zh-CN" altLang="en-US" sz="3600" b="1" dirty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实验步骤中重点解析</a:t>
            </a:r>
          </a:p>
        </p:txBody>
      </p:sp>
    </p:spTree>
    <p:extLst>
      <p:ext uri="{BB962C8B-B14F-4D97-AF65-F5344CB8AC3E}">
        <p14:creationId xmlns:p14="http://schemas.microsoft.com/office/powerpoint/2010/main" val="1188384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1061D-66C2-3BE2-2B28-8D1AF5444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>
            <a:extLst>
              <a:ext uri="{FF2B5EF4-FFF2-40B4-BE49-F238E27FC236}">
                <a16:creationId xmlns:a16="http://schemas.microsoft.com/office/drawing/2014/main" id="{DC84ADFA-5134-1E2E-7E97-EFB078A6F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297" y="922624"/>
            <a:ext cx="11949405" cy="6941975"/>
          </a:xfrm>
        </p:spPr>
        <p:txBody>
          <a:bodyPr>
            <a:normAutofit/>
          </a:bodyPr>
          <a:lstStyle/>
          <a:p>
            <a:r>
              <a:rPr lang="en-US" altLang="zh-CN" b="1" dirty="0">
                <a:solidFill>
                  <a:schemeClr val="accent4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1. </a:t>
            </a:r>
            <a:r>
              <a:rPr lang="zh-CN" altLang="en-US" b="1" dirty="0">
                <a:solidFill>
                  <a:schemeClr val="accent4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过饱和度 </a:t>
            </a:r>
            <a:r>
              <a:rPr lang="en-US" altLang="zh-CN" b="1" dirty="0">
                <a:solidFill>
                  <a:schemeClr val="accent4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(Supersaturation)</a:t>
            </a:r>
          </a:p>
          <a:p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· 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定义：溶液浓度超过饱和浓度的程度，是</a:t>
            </a:r>
            <a:r>
              <a:rPr lang="zh-CN" altLang="en-US" sz="2000" b="1" dirty="0">
                <a:solidFill>
                  <a:schemeClr val="bg2">
                    <a:lumMod val="40000"/>
                    <a:lumOff val="60000"/>
                  </a:schemeClr>
                </a:solidFill>
                <a:highlight>
                  <a:srgbClr val="8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结晶的驱动力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  <a:p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）过饱和度太高（蒸发过度或急速冷却）：</a:t>
            </a:r>
          </a:p>
          <a:p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· 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成核速率 </a:t>
            </a: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&gt; 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生长速率：溶液中会瞬间形成大量微小晶核。</a:t>
            </a:r>
          </a:p>
          <a:p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· 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结果：得到细小、不均匀的晶体。这些晶体表面积大，容易包裹母液和杂质，导致纯度下降。同时，细小晶体还会形成糊状物，造成过滤和洗涤困难。</a:t>
            </a:r>
          </a:p>
          <a:p>
            <a:r>
              <a:rPr lang="en-US" altLang="zh-CN" sz="2000" b="1" dirty="0">
                <a:highlight>
                  <a:srgbClr val="8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000" b="1" dirty="0">
                <a:highlight>
                  <a:srgbClr val="8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）过饱和度适中（可控）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</a:p>
          <a:p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· 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生长速率 ≥ 成核速率：溶质有足够时间有序地排列到已有晶核上。</a:t>
            </a:r>
          </a:p>
          <a:p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· 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结果：形成颗粒较大、均匀、完整的晶体。这种晶体纯度更高，易于处理。</a:t>
            </a:r>
            <a:endParaRPr lang="zh-CN" altLang="en-US" sz="2000" b="1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1800" b="1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1800" b="1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E6B26CF-749A-9D18-D356-8B3CA2A39A3A}"/>
              </a:ext>
            </a:extLst>
          </p:cNvPr>
          <p:cNvSpPr/>
          <p:nvPr/>
        </p:nvSpPr>
        <p:spPr>
          <a:xfrm>
            <a:off x="0" y="0"/>
            <a:ext cx="12192000" cy="740229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600" b="1" dirty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</a:t>
            </a:r>
            <a:r>
              <a:rPr lang="en-US" altLang="zh-CN" sz="3600" b="1" dirty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zh-CN" altLang="en-US" sz="3600" b="1" dirty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结晶条件对产品质量的影响</a:t>
            </a:r>
          </a:p>
        </p:txBody>
      </p:sp>
    </p:spTree>
    <p:extLst>
      <p:ext uri="{BB962C8B-B14F-4D97-AF65-F5344CB8AC3E}">
        <p14:creationId xmlns:p14="http://schemas.microsoft.com/office/powerpoint/2010/main" val="244965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A1ED0-E32D-D24C-504E-94EDB3BA1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>
            <a:extLst>
              <a:ext uri="{FF2B5EF4-FFF2-40B4-BE49-F238E27FC236}">
                <a16:creationId xmlns:a16="http://schemas.microsoft.com/office/drawing/2014/main" id="{C21527C9-0537-BF17-1744-863C9D937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297" y="370114"/>
            <a:ext cx="11949405" cy="694197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zh-CN" altLang="en-US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b="1" dirty="0">
                <a:solidFill>
                  <a:schemeClr val="accent4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2. </a:t>
            </a:r>
            <a:r>
              <a:rPr lang="zh-CN" altLang="en-US" b="1" dirty="0">
                <a:solidFill>
                  <a:schemeClr val="accent4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冷却速率 </a:t>
            </a:r>
            <a:r>
              <a:rPr lang="en-US" altLang="zh-CN" b="1" dirty="0">
                <a:solidFill>
                  <a:schemeClr val="accent4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(Cooling Rate)</a:t>
            </a:r>
          </a:p>
          <a:p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快速冷却：相当于瞬间提高过饱和度，效果与“过饱和度太高”相同，导致细小晶体。</a:t>
            </a:r>
          </a:p>
          <a:p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000" b="1" dirty="0">
                <a:solidFill>
                  <a:schemeClr val="accent4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缓慢冷却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：过饱和度随着温度下降而缓慢释放，让晶体有充足的时间生长。</a:t>
            </a:r>
            <a:endParaRPr lang="en-US" altLang="zh-CN" sz="20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b="1" dirty="0">
                <a:solidFill>
                  <a:schemeClr val="accent4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 </a:t>
            </a:r>
            <a:r>
              <a:rPr lang="zh-CN" altLang="en-US" b="1" dirty="0">
                <a:solidFill>
                  <a:schemeClr val="accent4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搅拌 </a:t>
            </a:r>
            <a:r>
              <a:rPr lang="en-US" altLang="zh-CN" b="1" dirty="0">
                <a:solidFill>
                  <a:schemeClr val="accent4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(Agitation)</a:t>
            </a:r>
            <a:endParaRPr lang="en-US" altLang="zh-CN" sz="20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000" b="1" dirty="0">
                <a:highlight>
                  <a:srgbClr val="8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000" b="1" dirty="0">
                <a:highlight>
                  <a:srgbClr val="8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）适度搅拌：</a:t>
            </a:r>
          </a:p>
          <a:p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促进热量和质量的传递，使</a:t>
            </a:r>
            <a:r>
              <a:rPr lang="zh-CN" altLang="en-US" sz="2000" b="1" dirty="0">
                <a:solidFill>
                  <a:srgbClr val="7030A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溶液浓度和温度均匀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  <a:p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防止晶体沉降结块。</a:t>
            </a:r>
          </a:p>
          <a:p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能打碎较大的晶体，</a:t>
            </a:r>
            <a:r>
              <a:rPr lang="zh-CN" altLang="en-US" sz="2000" b="1" dirty="0">
                <a:solidFill>
                  <a:srgbClr val="7030A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使晶体粒度分布更均匀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  <a:p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）剧烈搅拌：</a:t>
            </a:r>
            <a:endParaRPr lang="en-US" altLang="zh-CN" sz="20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/>
            <a:r>
              <a:rPr lang="zh-CN" altLang="en-US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会引入大量能量和气泡，</a:t>
            </a:r>
            <a:r>
              <a:rPr lang="zh-CN" alt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诱发二次成核，反而产生细晶</a:t>
            </a:r>
            <a:r>
              <a:rPr lang="zh-CN" altLang="en-US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endParaRPr lang="en-US" altLang="zh-CN" sz="16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/>
            <a:r>
              <a:rPr lang="zh-CN" altLang="en-US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并可能</a:t>
            </a:r>
            <a:r>
              <a:rPr lang="zh-CN" alt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将空气氧化性杂质（如氧气）带入溶液</a:t>
            </a:r>
            <a:r>
              <a:rPr lang="zh-CN" altLang="en-US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，对于硫酸亚铁铵这种易氧化的物质尤其不利。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45C7DAA-6988-83DA-B10F-3C50DCD7ECCF}"/>
              </a:ext>
            </a:extLst>
          </p:cNvPr>
          <p:cNvSpPr/>
          <p:nvPr/>
        </p:nvSpPr>
        <p:spPr>
          <a:xfrm>
            <a:off x="0" y="0"/>
            <a:ext cx="12192000" cy="740229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600" b="1" dirty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</a:t>
            </a:r>
            <a:r>
              <a:rPr lang="en-US" altLang="zh-CN" sz="3600" b="1" dirty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zh-CN" altLang="en-US" sz="3600" b="1" dirty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结晶条件对产品质量的影响</a:t>
            </a:r>
          </a:p>
        </p:txBody>
      </p:sp>
    </p:spTree>
    <p:extLst>
      <p:ext uri="{BB962C8B-B14F-4D97-AF65-F5344CB8AC3E}">
        <p14:creationId xmlns:p14="http://schemas.microsoft.com/office/powerpoint/2010/main" val="1030444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B0CFD-7737-D101-B1D7-45C766F4F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>
            <a:extLst>
              <a:ext uri="{FF2B5EF4-FFF2-40B4-BE49-F238E27FC236}">
                <a16:creationId xmlns:a16="http://schemas.microsoft.com/office/drawing/2014/main" id="{EBD4D17F-9FC4-BE4F-B6B2-4AF3C5A8E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297" y="370114"/>
            <a:ext cx="11949405" cy="694197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zh-CN" altLang="en-US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b="1" dirty="0">
                <a:solidFill>
                  <a:schemeClr val="accent4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4. </a:t>
            </a:r>
            <a:r>
              <a:rPr lang="zh-CN" altLang="en-US" b="1" dirty="0">
                <a:solidFill>
                  <a:schemeClr val="accent4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晶种 </a:t>
            </a:r>
            <a:r>
              <a:rPr lang="en-US" altLang="zh-CN" b="1" dirty="0">
                <a:solidFill>
                  <a:schemeClr val="accent4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(Seeding)</a:t>
            </a:r>
          </a:p>
          <a:p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定义：向过饱和溶液中加入少量预先制好的微小晶体（晶种）。</a:t>
            </a:r>
          </a:p>
          <a:p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）为溶质分子提供</a:t>
            </a:r>
            <a:r>
              <a:rPr lang="zh-CN" altLang="en-US" sz="2000" b="1" dirty="0">
                <a:solidFill>
                  <a:schemeClr val="accent4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现成的附着表面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zh-CN" altLang="en-US" sz="2000" b="1" dirty="0">
                <a:solidFill>
                  <a:schemeClr val="accent4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引导晶体在指定位置生长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  <a:p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）可以</a:t>
            </a:r>
            <a:r>
              <a:rPr lang="zh-CN" altLang="en-US" sz="2000" b="1" dirty="0">
                <a:solidFill>
                  <a:schemeClr val="accent4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有效控制晶核的数量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，抑制溶液自发产生过多晶核。</a:t>
            </a:r>
          </a:p>
          <a:p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从而获得粒度均匀、形状一致的晶体产品。</a:t>
            </a:r>
            <a:endParaRPr lang="en-US" altLang="zh-CN" sz="20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b="1" dirty="0">
                <a:solidFill>
                  <a:schemeClr val="accent4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5. pH</a:t>
            </a:r>
            <a:r>
              <a:rPr lang="zh-CN" altLang="en-US" b="1" dirty="0">
                <a:solidFill>
                  <a:schemeClr val="accent4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值与杂质</a:t>
            </a:r>
          </a:p>
          <a:p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pH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值：可能影响晶体的</a:t>
            </a:r>
            <a:r>
              <a:rPr lang="zh-CN" altLang="en-US" sz="2000" b="1" dirty="0">
                <a:solidFill>
                  <a:schemeClr val="accent4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晶习（晶体外形）和纯度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。对于硫酸亚铁铵，</a:t>
            </a:r>
            <a:r>
              <a:rPr lang="zh-CN" altLang="en-US" sz="2000" b="1" dirty="0">
                <a:solidFill>
                  <a:schemeClr val="accent4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酸性环境有助于抑制</a:t>
            </a:r>
            <a:r>
              <a:rPr lang="en-US" altLang="zh-CN" sz="2000" b="1" dirty="0">
                <a:solidFill>
                  <a:schemeClr val="accent4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Fe²⁺</a:t>
            </a:r>
            <a:r>
              <a:rPr lang="zh-CN" altLang="en-US" sz="2000" b="1" dirty="0">
                <a:solidFill>
                  <a:schemeClr val="accent4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被氧化为</a:t>
            </a:r>
            <a:r>
              <a:rPr lang="en-US" altLang="zh-CN" sz="2000" b="1" dirty="0">
                <a:solidFill>
                  <a:schemeClr val="accent4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Fe³⁺</a:t>
            </a:r>
            <a:r>
              <a:rPr lang="zh-CN" altLang="en-US" sz="2000" b="1" dirty="0">
                <a:solidFill>
                  <a:schemeClr val="accent4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  <a:p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）杂质：</a:t>
            </a:r>
          </a:p>
          <a:p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· 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某些杂质会改变晶体的生长习性，导致形成针状、片状等非常规形状。</a:t>
            </a:r>
          </a:p>
          <a:p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· 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杂质可能被吸附在晶体表面或包裹在晶体内部（夹杂），严重影响产品纯度。</a:t>
            </a:r>
            <a:endParaRPr lang="en-US" altLang="zh-CN" sz="20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/>
            <a:r>
              <a:rPr lang="zh-CN" alt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</a:t>
            </a:r>
            <a:r>
              <a:rPr lang="en-US" altLang="zh-CN" sz="1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KSCN</a:t>
            </a:r>
            <a:r>
              <a:rPr lang="zh-CN" alt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检测</a:t>
            </a:r>
            <a:r>
              <a:rPr lang="en-US" altLang="zh-CN" sz="1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Fe³⁺</a:t>
            </a:r>
            <a:r>
              <a:rPr lang="zh-CN" alt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，就是为了评估因氧化引入的杂质水平</a:t>
            </a:r>
            <a:endParaRPr lang="en-US" altLang="zh-CN" sz="1600" b="1" dirty="0">
              <a:solidFill>
                <a:schemeClr val="accent4">
                  <a:lumMod val="60000"/>
                  <a:lumOff val="4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B055A0-1997-B7E9-B40C-11C912E1A640}"/>
              </a:ext>
            </a:extLst>
          </p:cNvPr>
          <p:cNvSpPr/>
          <p:nvPr/>
        </p:nvSpPr>
        <p:spPr>
          <a:xfrm>
            <a:off x="0" y="0"/>
            <a:ext cx="12192000" cy="740229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600" b="1" dirty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</a:t>
            </a:r>
            <a:r>
              <a:rPr lang="en-US" altLang="zh-CN" sz="3600" b="1" dirty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zh-CN" altLang="en-US" sz="3600" b="1" dirty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结晶条件对产品质量的影响</a:t>
            </a:r>
          </a:p>
        </p:txBody>
      </p:sp>
    </p:spTree>
    <p:extLst>
      <p:ext uri="{BB962C8B-B14F-4D97-AF65-F5344CB8AC3E}">
        <p14:creationId xmlns:p14="http://schemas.microsoft.com/office/powerpoint/2010/main" val="1849041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B8C2D-CDE8-987A-0510-47B8AAC89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>
            <a:extLst>
              <a:ext uri="{FF2B5EF4-FFF2-40B4-BE49-F238E27FC236}">
                <a16:creationId xmlns:a16="http://schemas.microsoft.com/office/drawing/2014/main" id="{D3806109-A720-5B34-803B-C0A05105B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297" y="768221"/>
            <a:ext cx="11949405" cy="605867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在本实验及类似情景下，需要制备完整的、大块的晶体，这时需控制实验条件如下：</a:t>
            </a:r>
            <a:endParaRPr lang="en-US" altLang="zh-CN" sz="2000" b="1" dirty="0">
              <a:solidFill>
                <a:schemeClr val="bg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000" b="1" dirty="0">
                <a:highlight>
                  <a:srgbClr val="8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1.</a:t>
            </a:r>
            <a:r>
              <a:rPr lang="zh-CN" altLang="en-US" sz="2000" b="1" dirty="0">
                <a:highlight>
                  <a:srgbClr val="8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过饱和度：适中，可控</a:t>
            </a:r>
            <a:endParaRPr lang="en-US" altLang="zh-CN" sz="2000" b="1" dirty="0">
              <a:highlight>
                <a:srgbClr val="80008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000" b="1" dirty="0">
                <a:highlight>
                  <a:srgbClr val="8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2.</a:t>
            </a:r>
            <a:r>
              <a:rPr lang="zh-CN" altLang="en-US" sz="2000" b="1" dirty="0">
                <a:highlight>
                  <a:srgbClr val="8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冷却速率：缓慢</a:t>
            </a:r>
            <a:endParaRPr lang="en-US" altLang="zh-CN" sz="2000" b="1" dirty="0">
              <a:highlight>
                <a:srgbClr val="80008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000" b="1" dirty="0">
                <a:highlight>
                  <a:srgbClr val="8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3.</a:t>
            </a:r>
            <a:r>
              <a:rPr lang="zh-CN" altLang="en-US" sz="2000" b="1" dirty="0">
                <a:highlight>
                  <a:srgbClr val="8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搅拌：温和、均匀</a:t>
            </a:r>
            <a:endParaRPr lang="en-US" altLang="zh-CN" sz="2000" b="1" dirty="0">
              <a:highlight>
                <a:srgbClr val="80008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000" b="1" dirty="0">
                <a:highlight>
                  <a:srgbClr val="8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4.</a:t>
            </a:r>
            <a:r>
              <a:rPr lang="zh-CN" altLang="en-US" sz="2000" b="1" dirty="0">
                <a:highlight>
                  <a:srgbClr val="8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晶种：适时加入（或形成内部晶种）</a:t>
            </a:r>
            <a:endParaRPr lang="en-US" altLang="zh-CN" sz="2000" b="1" dirty="0">
              <a:highlight>
                <a:srgbClr val="80008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000" b="1" dirty="0">
                <a:highlight>
                  <a:srgbClr val="8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5.</a:t>
            </a:r>
            <a:r>
              <a:rPr lang="zh-CN" altLang="en-US" sz="2000" b="1" dirty="0">
                <a:highlight>
                  <a:srgbClr val="8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溶液环境：纯净、无杂质、适宜</a:t>
            </a:r>
            <a:r>
              <a:rPr lang="en-US" altLang="zh-CN" sz="2000" b="1" dirty="0">
                <a:highlight>
                  <a:srgbClr val="8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pH</a:t>
            </a:r>
          </a:p>
          <a:p>
            <a:pPr marL="0" indent="0">
              <a:buNone/>
            </a:pPr>
            <a:r>
              <a:rPr lang="zh-CN" altLang="en-US" sz="2000" b="1" dirty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但是小颗粒晶体在实验室和工业生产中亦有不可替代的优势：</a:t>
            </a:r>
            <a:endParaRPr lang="en-US" altLang="zh-CN" sz="2000" b="1" dirty="0">
              <a:solidFill>
                <a:schemeClr val="bg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000" b="1" dirty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Example:</a:t>
            </a:r>
          </a:p>
          <a:p>
            <a:pPr marL="0" indent="0">
              <a:buNone/>
            </a:pP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1.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需要反应活性较高的物质参与反应</a:t>
            </a:r>
            <a:endParaRPr lang="en-US" altLang="zh-CN" sz="20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2.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需要快速溶解的反应</a:t>
            </a:r>
            <a:endParaRPr lang="en-US" altLang="zh-CN" sz="20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  </a:t>
            </a:r>
            <a:r>
              <a:rPr lang="zh-CN" altLang="en-US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小颗粒晶体具有巨大的比表面积，与溶剂的接触面积大，因此溶解速度远超大块晶体，可以显著缩短实验或生产时间</a:t>
            </a:r>
            <a:endParaRPr lang="en-US" altLang="zh-CN" sz="16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3.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要与其他固体粉末均匀混合并进行反应的场合。</a:t>
            </a:r>
            <a:endParaRPr lang="en-US" altLang="zh-CN" sz="20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4.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制备粉体材料</a:t>
            </a:r>
            <a:endParaRPr lang="en-US" altLang="zh-CN" sz="20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5.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洗涤和过滤不是首要考虑因素时：</a:t>
            </a:r>
          </a:p>
          <a:p>
            <a:pPr marL="457200" lvl="1" indent="0">
              <a:buNone/>
            </a:pPr>
            <a:r>
              <a:rPr lang="zh-CN" altLang="en-US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如前所述，小晶体形成的滤饼更致密，过滤慢，且易包裹杂质。但如果后续有重结晶提纯步骤，或者对过滤效率要求不高，则可以优先考虑为满足其他需求（如溶解速度）而制备小晶体</a:t>
            </a:r>
            <a:endParaRPr lang="en-US" altLang="zh-CN" sz="16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2C7368B-F649-4C8B-EF8D-C0F751F2C717}"/>
              </a:ext>
            </a:extLst>
          </p:cNvPr>
          <p:cNvSpPr/>
          <p:nvPr/>
        </p:nvSpPr>
        <p:spPr>
          <a:xfrm>
            <a:off x="0" y="0"/>
            <a:ext cx="12192000" cy="740229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600" b="1" dirty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四</a:t>
            </a:r>
            <a:r>
              <a:rPr lang="en-US" altLang="zh-CN" sz="3600" b="1" dirty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zh-CN" altLang="en-US" sz="3600" b="1" dirty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总结</a:t>
            </a:r>
            <a:r>
              <a:rPr lang="en-US" altLang="zh-CN" sz="3600" b="1" dirty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-Conclusion</a:t>
            </a:r>
            <a:endParaRPr lang="zh-CN" altLang="en-US" sz="3600" b="1" dirty="0">
              <a:solidFill>
                <a:schemeClr val="bg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254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5100F-B338-1855-599D-FEA7ADA62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>
            <a:extLst>
              <a:ext uri="{FF2B5EF4-FFF2-40B4-BE49-F238E27FC236}">
                <a16:creationId xmlns:a16="http://schemas.microsoft.com/office/drawing/2014/main" id="{D6B44114-150D-EDFF-0CF9-575C8A064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595" y="721568"/>
            <a:ext cx="11949405" cy="605867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zh-CN" altLang="en-US" sz="17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制备小颗粒晶体时的条件：</a:t>
            </a:r>
            <a:endParaRPr lang="en-US" altLang="zh-CN" sz="17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400" b="1" dirty="0">
                <a:highlight>
                  <a:srgbClr val="8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1. </a:t>
            </a:r>
            <a:r>
              <a:rPr lang="zh-CN" altLang="en-US" sz="1400" b="1" dirty="0">
                <a:highlight>
                  <a:srgbClr val="8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快速蒸发，不加干预：</a:t>
            </a:r>
          </a:p>
          <a:p>
            <a:pPr marL="0" indent="0">
              <a:buNone/>
            </a:pPr>
            <a:r>
              <a:rPr lang="zh-CN" altLang="en-US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en-US" altLang="zh-CN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· </a:t>
            </a:r>
            <a:r>
              <a:rPr lang="zh-CN" altLang="en-US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进行加热蒸发时，不理会内壁上出现的晶体，任由其发展。</a:t>
            </a:r>
          </a:p>
          <a:p>
            <a:pPr marL="0" indent="0">
              <a:buNone/>
            </a:pPr>
            <a:r>
              <a:rPr lang="zh-CN" altLang="en-US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en-US" altLang="zh-CN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· </a:t>
            </a:r>
            <a:r>
              <a:rPr lang="zh-CN" altLang="en-US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蒸发到远超过饱和点，直到溶液变得非常粘稠，有大量晶体即将析出时才停止。</a:t>
            </a:r>
          </a:p>
          <a:p>
            <a:pPr marL="0" indent="0">
              <a:buNone/>
            </a:pPr>
            <a:r>
              <a:rPr lang="en-US" altLang="zh-CN" sz="1400" b="1" dirty="0">
                <a:highlight>
                  <a:srgbClr val="8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2. </a:t>
            </a:r>
            <a:r>
              <a:rPr lang="zh-CN" altLang="en-US" sz="1400" b="1" dirty="0">
                <a:highlight>
                  <a:srgbClr val="8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急速冷却：</a:t>
            </a:r>
          </a:p>
          <a:p>
            <a:pPr marL="0" indent="0">
              <a:buNone/>
            </a:pPr>
            <a:r>
              <a:rPr lang="zh-CN" altLang="en-US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en-US" altLang="zh-CN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· </a:t>
            </a:r>
            <a:r>
              <a:rPr lang="zh-CN" altLang="en-US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立即将蒸发皿置于冰水浴中，或者直接放在冰冷的实验台面上。</a:t>
            </a:r>
          </a:p>
          <a:p>
            <a:pPr marL="0" indent="0">
              <a:buNone/>
            </a:pPr>
            <a:r>
              <a:rPr lang="zh-CN" altLang="en-US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en-US" altLang="zh-CN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· </a:t>
            </a:r>
            <a:r>
              <a:rPr lang="zh-CN" altLang="en-US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快速冷却会瞬间大幅降低溶解度，使溶液达到极高的过饱和度，从而在极短时间内爆发式地形成无数个晶核。</a:t>
            </a:r>
          </a:p>
          <a:p>
            <a:pPr marL="0" indent="0">
              <a:buNone/>
            </a:pPr>
            <a:r>
              <a:rPr lang="en-US" altLang="zh-CN" sz="1400" b="1" dirty="0">
                <a:highlight>
                  <a:srgbClr val="8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3. </a:t>
            </a:r>
            <a:r>
              <a:rPr lang="zh-CN" altLang="en-US" sz="1400" b="1" dirty="0">
                <a:highlight>
                  <a:srgbClr val="8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剧烈搅拌：</a:t>
            </a:r>
          </a:p>
          <a:p>
            <a:pPr marL="0" indent="0">
              <a:buNone/>
            </a:pPr>
            <a:r>
              <a:rPr lang="zh-CN" altLang="en-US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en-US" altLang="zh-CN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· </a:t>
            </a:r>
            <a:r>
              <a:rPr lang="zh-CN" altLang="en-US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在蒸发后期和冷却过程中，进行剧烈、持续的搅拌。</a:t>
            </a:r>
          </a:p>
          <a:p>
            <a:pPr marL="0" indent="0">
              <a:buNone/>
            </a:pPr>
            <a:r>
              <a:rPr lang="zh-CN" altLang="en-US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en-US" altLang="zh-CN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· </a:t>
            </a:r>
            <a:r>
              <a:rPr lang="zh-CN" altLang="en-US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剧烈搅拌的作用：</a:t>
            </a:r>
          </a:p>
          <a:p>
            <a:pPr marL="0" indent="0">
              <a:buNone/>
            </a:pPr>
            <a:r>
              <a:rPr lang="zh-CN" altLang="en-US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r>
              <a:rPr lang="en-US" altLang="zh-CN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· </a:t>
            </a:r>
            <a:r>
              <a:rPr lang="zh-CN" altLang="en-US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使溶液各部分的过饱和度保持一致，确保整体同时成核。</a:t>
            </a:r>
          </a:p>
          <a:p>
            <a:pPr marL="0" indent="0">
              <a:buNone/>
            </a:pPr>
            <a:r>
              <a:rPr lang="zh-CN" altLang="en-US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r>
              <a:rPr lang="en-US" altLang="zh-CN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· </a:t>
            </a:r>
            <a:r>
              <a:rPr lang="zh-CN" altLang="en-US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机械剪切力可以打碎刚刚形成的微小晶体，产生更多的晶核（这称为“二次成核”）。</a:t>
            </a:r>
          </a:p>
          <a:p>
            <a:pPr marL="0" indent="0">
              <a:buNone/>
            </a:pPr>
            <a:r>
              <a:rPr lang="zh-CN" altLang="en-US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r>
              <a:rPr lang="en-US" altLang="zh-CN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· </a:t>
            </a:r>
            <a:r>
              <a:rPr lang="zh-CN" altLang="en-US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防止晶体沉降和长大。</a:t>
            </a:r>
          </a:p>
          <a:p>
            <a:pPr marL="0" indent="0">
              <a:buNone/>
            </a:pPr>
            <a:r>
              <a:rPr lang="en-US" altLang="zh-CN" sz="1400" b="1" dirty="0">
                <a:highlight>
                  <a:srgbClr val="8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4. </a:t>
            </a:r>
            <a:r>
              <a:rPr lang="zh-CN" altLang="en-US" sz="1400" b="1" dirty="0">
                <a:highlight>
                  <a:srgbClr val="8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避免加入晶种：</a:t>
            </a:r>
          </a:p>
          <a:p>
            <a:pPr marL="0" indent="0">
              <a:buNone/>
            </a:pPr>
            <a:r>
              <a:rPr lang="zh-CN" altLang="en-US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en-US" altLang="zh-CN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· </a:t>
            </a:r>
            <a:r>
              <a:rPr lang="zh-CN" altLang="en-US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严格防止引入任何外来的晶体或灰尘作为晶种。所有器皿需清洗干净。</a:t>
            </a:r>
          </a:p>
          <a:p>
            <a:pPr marL="0" indent="0">
              <a:buNone/>
            </a:pPr>
            <a:r>
              <a:rPr lang="zh-CN" altLang="en-US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en-US" altLang="zh-CN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· </a:t>
            </a:r>
            <a:r>
              <a:rPr lang="zh-CN" altLang="en-US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如果表面有晶体析出，不要用玻璃棒将其推回溶液，以免它们成为大晶体生长的核心。</a:t>
            </a:r>
          </a:p>
          <a:p>
            <a:pPr marL="0" indent="0">
              <a:buNone/>
            </a:pPr>
            <a:r>
              <a:rPr lang="en-US" altLang="zh-CN" sz="1400" b="1" dirty="0">
                <a:highlight>
                  <a:srgbClr val="8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5. </a:t>
            </a:r>
            <a:r>
              <a:rPr lang="zh-CN" altLang="en-US" sz="1400" b="1" dirty="0">
                <a:highlight>
                  <a:srgbClr val="80008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加入不良溶剂或添加剂：</a:t>
            </a:r>
          </a:p>
          <a:p>
            <a:pPr marL="0" indent="0">
              <a:buNone/>
            </a:pPr>
            <a:r>
              <a:rPr lang="zh-CN" altLang="en-US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en-US" altLang="zh-CN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· </a:t>
            </a:r>
            <a:r>
              <a:rPr lang="zh-CN" altLang="en-US" sz="1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在结晶后期，加入少量与水互溶的有机溶剂（如乙醇或丙酮），可以迅速降低溶解度，诱发快速成核，生成细小晶体。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308D2F-56CA-05C9-EFA5-C97F17211124}"/>
              </a:ext>
            </a:extLst>
          </p:cNvPr>
          <p:cNvSpPr/>
          <p:nvPr/>
        </p:nvSpPr>
        <p:spPr>
          <a:xfrm>
            <a:off x="0" y="0"/>
            <a:ext cx="12192000" cy="740229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600" b="1" dirty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四</a:t>
            </a:r>
            <a:r>
              <a:rPr lang="en-US" altLang="zh-CN" sz="3600" b="1" dirty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zh-CN" altLang="en-US" sz="3600" b="1" dirty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总结</a:t>
            </a:r>
            <a:r>
              <a:rPr lang="en-US" altLang="zh-CN" sz="3600" b="1" dirty="0">
                <a:solidFill>
                  <a:schemeClr val="bg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-Conclusion</a:t>
            </a:r>
            <a:endParaRPr lang="zh-CN" altLang="en-US" sz="3600" b="1" dirty="0">
              <a:solidFill>
                <a:schemeClr val="bg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9787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4336F-BAE2-EDF9-3AA5-51B0D10B3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>
            <a:extLst>
              <a:ext uri="{FF2B5EF4-FFF2-40B4-BE49-F238E27FC236}">
                <a16:creationId xmlns:a16="http://schemas.microsoft.com/office/drawing/2014/main" id="{BF9DF2CC-7135-AA34-657E-D13F1EF04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297" y="497633"/>
            <a:ext cx="11949405" cy="605867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altLang="zh-CN" sz="36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sz="36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4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Thanks for</a:t>
            </a:r>
            <a:r>
              <a:rPr lang="zh-CN" altLang="en-US" sz="4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4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watching!</a:t>
            </a:r>
          </a:p>
          <a:p>
            <a:pPr marL="0" indent="0">
              <a:buNone/>
            </a:pPr>
            <a:r>
              <a:rPr lang="zh-CN" altLang="en-US" sz="4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感谢老师和同学们的批评指导</a:t>
            </a:r>
            <a:endParaRPr lang="en-US" altLang="zh-CN" sz="40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sz="36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algn="ctr">
              <a:buNone/>
            </a:pPr>
            <a:endParaRPr lang="en-US" altLang="zh-CN" sz="20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algn="ctr">
              <a:buNone/>
            </a:pPr>
            <a:endParaRPr lang="en-US" altLang="zh-CN" sz="20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algn="ctr">
              <a:buNone/>
            </a:pPr>
            <a:endParaRPr lang="en-US" altLang="zh-CN" sz="20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zh-CN" altLang="en-US" sz="2000" b="1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第三小组</a:t>
            </a:r>
            <a:r>
              <a:rPr lang="en-US" altLang="zh-CN" sz="2000" b="1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</a:t>
            </a:r>
            <a:r>
              <a:rPr lang="zh-CN" altLang="en-US" sz="2000" b="1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顾桂榕</a:t>
            </a:r>
            <a:endParaRPr lang="en-US" altLang="zh-CN" sz="2000" b="1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000" cap="all" dirty="0">
                <a:solidFill>
                  <a:schemeClr val="tx2"/>
                </a:solidFill>
              </a:rPr>
              <a:t>2025.11.17</a:t>
            </a:r>
            <a:endParaRPr lang="zh-CN" altLang="en-US" sz="2000" cap="all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02539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{B4B80637-650D-48C2-B7CA-0AC4383E949C}TF6d5feb1e-e145-43f1-b745-cb4b54c5ee97cb0a4434-da49ebd1fc82</Template>
  <TotalTime>280</TotalTime>
  <Words>1612</Words>
  <Application>Microsoft Office PowerPoint</Application>
  <PresentationFormat>宽屏</PresentationFormat>
  <Paragraphs>104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华文楷体</vt:lpstr>
      <vt:lpstr>Arial</vt:lpstr>
      <vt:lpstr>Tw Cen MT</vt:lpstr>
      <vt:lpstr>电路</vt:lpstr>
      <vt:lpstr>结晶条件对产品质量的影响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8618810516727</dc:creator>
  <cp:lastModifiedBy>8618810516727</cp:lastModifiedBy>
  <cp:revision>5</cp:revision>
  <dcterms:created xsi:type="dcterms:W3CDTF">2025-11-14T06:36:56Z</dcterms:created>
  <dcterms:modified xsi:type="dcterms:W3CDTF">2025-11-14T11:17:24Z</dcterms:modified>
</cp:coreProperties>
</file>